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5B89C"/>
          </a:solidFill>
          <a:ln/>
        </p:spPr>
      </p:sp>
      <p:pic>
        <p:nvPicPr>
          <p:cNvPr id="3" name="Image 0" descr="/home/claude/ververica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219456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VVC BYOC Pod Injector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Secure, Config-Driven Secret Injection for Ververica Cloud BYOC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3749040"/>
            <a:ext cx="2743200" cy="0"/>
          </a:xfrm>
          <a:prstGeom prst="line">
            <a:avLst/>
          </a:prstGeom>
          <a:noFill/>
          <a:ln w="25400">
            <a:solidFill>
              <a:srgbClr val="4E20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023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inject secrets, certificates, and configuration files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Flink pods — without hardcoding, without code changes,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modifying the Ververica platform.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0" y="1371600"/>
            <a:ext cx="3017520" cy="8229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554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0976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hardcoded secrets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686800" y="2468880"/>
            <a:ext cx="3017520" cy="8229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6517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509760" y="2606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YAML-configurable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686800" y="3566160"/>
            <a:ext cx="3017520" cy="8229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374904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509760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&amp; Azure BYOC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686800" y="4663440"/>
            <a:ext cx="3017520" cy="8229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48463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509760" y="4800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Multi-namespace support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4008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Flink Jobs to Secure External Services on VVC BYOC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12801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Secrets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20574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passwords and keystores in job JARs or Flink config exposes credentials in source control, CI/CD logs, and container images.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108960"/>
            <a:ext cx="5486400" cy="12801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290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Pod Template Access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3611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VVC BYOC does not expose Kubernetes pod templates in its deployment spec. You cannot add volumes, env vars, or init containers through the VVC Console.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663440"/>
            <a:ext cx="5486400" cy="12801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9834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800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Cloud-Specific Workarounds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71600" y="51663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Secrets Manager or Azure Key Vault require IRSA/Workload Identity on the Flink service account — which VVC manages and does not annotate.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0" y="1554480"/>
            <a:ext cx="5303520" cy="438912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6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28600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2240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env vars (passwords, usernames) from K8s Secrets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78892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32320" y="2743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certificate files (JKS, PEM) at specific paths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291840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3232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config files (job specs, properties) into pods</a:t>
            </a:r>
            <a:endParaRPr lang="en-US" sz="11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3794760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32320" y="3749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without modifying VVC platform or Flink images</a:t>
            </a:r>
            <a:endParaRPr lang="en-US" sz="11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4297680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132320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multiple workspaces with different credentials</a:t>
            </a:r>
            <a:endParaRPr lang="en-US" sz="11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4800600"/>
            <a:ext cx="228600" cy="2286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132320" y="4754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configurable via YAML — no code changes</a:t>
            </a:r>
            <a:endParaRPr lang="en-US" sz="11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0" y="5303520"/>
            <a:ext cx="228600" cy="2286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132320" y="5257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Cloud-agnostic (AWS EKS, Azure AKS)</a:t>
            </a:r>
            <a:endParaRPr lang="en-US" sz="1100" dirty="0"/>
          </a:p>
        </p:txBody>
      </p:sp>
      <p:sp>
        <p:nvSpPr>
          <p:cNvPr id="32" name="Text 2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  <p:sp>
        <p:nvSpPr>
          <p:cNvPr id="33" name="Text 21"/>
          <p:cNvSpPr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800" dirty="0"/>
          </a:p>
        </p:txBody>
      </p:sp>
      <p:sp>
        <p:nvSpPr>
          <p:cNvPr id="34" name="Shape 2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1A6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Kubernetes MutatingAdmissionWebhook — intercepts and patches every Flink pod before it starts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377440" cy="20116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8288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VVC Console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deploys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Flink job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42316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83280" y="1645920"/>
            <a:ext cx="2377440" cy="20116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2880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747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API Server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47472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pod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request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42316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1645920"/>
            <a:ext cx="2377440" cy="20116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828800"/>
            <a:ext cx="548640" cy="5486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008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Injector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40080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Intercepts, reads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config, patches pod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242316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235440" y="1645920"/>
            <a:ext cx="2377440" cy="20116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4120" y="1828800"/>
            <a:ext cx="548640" cy="5486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3268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Flink Pod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932688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with secrets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certs injected</a:t>
            </a:r>
            <a:endParaRPr lang="en-US" sz="1000" dirty="0"/>
          </a:p>
        </p:txBody>
      </p:sp>
      <p:sp>
        <p:nvSpPr>
          <p:cNvPr id="23" name="Shape 14"/>
          <p:cNvSpPr/>
          <p:nvPr/>
        </p:nvSpPr>
        <p:spPr>
          <a:xfrm>
            <a:off x="457200" y="4023360"/>
            <a:ext cx="5486400" cy="20116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15"/>
          <p:cNvSpPr/>
          <p:nvPr/>
        </p:nvSpPr>
        <p:spPr>
          <a:xfrm>
            <a:off x="73152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1772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97280" y="4572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runs in kube-system as a standard K8s Deployment (2 replicas)</a:t>
            </a:r>
            <a:endParaRPr lang="en-US" sz="10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937760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097280" y="4892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as a MutatingWebhookConfiguration with namespace selector</a:t>
            </a:r>
            <a:endParaRPr lang="en-US" sz="10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257800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97280" y="5212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pods with label system=ververica-platform (confirmed on VVC BYOC)</a:t>
            </a:r>
            <a:endParaRPr lang="en-US" sz="10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5577840"/>
            <a:ext cx="182880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1097280" y="5532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injection config from a ConfigMap — zero hardcoded logic</a:t>
            </a:r>
            <a:endParaRPr lang="en-US" sz="10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" y="5897880"/>
            <a:ext cx="182880" cy="1828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1097280" y="5852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Patches pod spec via JSON Patch before K8s schedules the pod</a:t>
            </a:r>
            <a:endParaRPr lang="en-US" sz="1000" dirty="0"/>
          </a:p>
        </p:txBody>
      </p:sp>
      <p:sp>
        <p:nvSpPr>
          <p:cNvPr id="35" name="Shape 21"/>
          <p:cNvSpPr/>
          <p:nvPr/>
        </p:nvSpPr>
        <p:spPr>
          <a:xfrm>
            <a:off x="6400800" y="4023360"/>
            <a:ext cx="5303520" cy="20116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Text 22"/>
          <p:cNvSpPr/>
          <p:nvPr/>
        </p:nvSpPr>
        <p:spPr>
          <a:xfrm>
            <a:off x="667512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Gets Injected</a:t>
            </a:r>
            <a:endParaRPr lang="en-US" sz="150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0" y="4663440"/>
            <a:ext cx="228600" cy="22860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7132320" y="4617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 from K8s Secrets (passwords, tokens)</a:t>
            </a:r>
            <a:endParaRPr lang="en-US" sz="100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6560" y="5029200"/>
            <a:ext cx="228600" cy="22860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7132320" y="4983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mounts from Secrets (JKS keystores, PEM certs)</a:t>
            </a:r>
            <a:endParaRPr lang="en-US" sz="100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6560" y="5394960"/>
            <a:ext cx="228600" cy="22860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7132320" y="5349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mounts from ConfigMaps (job specs, config files)</a:t>
            </a:r>
            <a:endParaRPr lang="en-US" sz="100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6560" y="5760720"/>
            <a:ext cx="228600" cy="22860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7132320" y="5715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init containers (cert processing, pre-flight)</a:t>
            </a:r>
            <a:endParaRPr lang="en-US" sz="1000" dirty="0"/>
          </a:p>
        </p:txBody>
      </p:sp>
      <p:sp>
        <p:nvSpPr>
          <p:cNvPr id="45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  <p:sp>
        <p:nvSpPr>
          <p:cNvPr id="46" name="Text 28"/>
          <p:cNvSpPr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800" dirty="0"/>
          </a:p>
        </p:txBody>
      </p:sp>
      <p:sp>
        <p:nvSpPr>
          <p:cNvPr id="47" name="Shape 29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1A6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MutatingAdmissionWebhook?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 Kubernetes extension point — used by Istio, Vault, cert-manager, and Ververica's own Pyxis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7432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Kubernetes Admission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20040" cy="274320"/>
          </a:xfrm>
          <a:prstGeom prst="rect">
            <a:avLst/>
          </a:prstGeom>
          <a:solidFill>
            <a:srgbClr val="2A1A6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305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2130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Request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2130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or VVC sends a pod CREATE request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560320"/>
            <a:ext cx="320040" cy="274320"/>
          </a:xfrm>
          <a:prstGeom prst="rect">
            <a:avLst/>
          </a:prstGeom>
          <a:solidFill>
            <a:srgbClr val="2A1A6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42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verifies identity (ServiceAccount, RBAC)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2971800"/>
            <a:ext cx="320040" cy="274320"/>
          </a:xfrm>
          <a:prstGeom prst="rect">
            <a:avLst/>
          </a:prstGeom>
          <a:solidFill>
            <a:srgbClr val="05B89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535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2953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Mutating Webhooks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953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webhooks can MODIFY the request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3383280"/>
            <a:ext cx="320040" cy="274320"/>
          </a:xfrm>
          <a:prstGeom prst="rect">
            <a:avLst/>
          </a:prstGeom>
          <a:solidFill>
            <a:srgbClr val="2A1A6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64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Webhooks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3364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webhooks can REJECT the request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3794760"/>
            <a:ext cx="320040" cy="274320"/>
          </a:xfrm>
          <a:prstGeom prst="rect">
            <a:avLst/>
          </a:prstGeom>
          <a:solidFill>
            <a:srgbClr val="2A1A6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7764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3776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3776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object is stored in etcd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1554480"/>
            <a:ext cx="5303520" cy="27432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Webhook Registration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0392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vvc-byoc-pod-injector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0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CREATE operations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2825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2825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namespaceSelector: vvc-byoc-pod-injector=enabled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Policy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03920" y="3163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(pod won't start if webhook is down)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Reinvocation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03920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IfNeeded (runs after Pyxis webhook)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Coexists With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0392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Pyxis mutating + validating webhooks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152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Sidecar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31520" y="5029200"/>
            <a:ext cx="5029200" cy="822960"/>
          </a:xfrm>
          <a:prstGeom prst="rect">
            <a:avLst/>
          </a:prstGeom>
          <a:solidFill>
            <a:srgbClr val="1A0D50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Sidecar Pattern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container runs alongside your app for the entire pod lifetime. Consumes CPU + memory continuously. Example: Istio Envoy proxy.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5029200"/>
            <a:ext cx="5212080" cy="822960"/>
          </a:xfrm>
          <a:prstGeom prst="rect">
            <a:avLst/>
          </a:prstGeom>
          <a:solidFill>
            <a:srgbClr val="0A2A2A"/>
          </a:solidFill>
          <a:ln w="12700">
            <a:solidFill>
              <a:srgbClr val="05B89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Webhook (This Tool)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0" y="5303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Modifies the pod spec BEFORE it starts, then disappears. Zero overhead in the Flink pod. Only adds native K8s env vars and volume mounts.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1A6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Mutation: JSON Patch in 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webhook receives a pod spec, checks labels, and returns a set of JSON Patch operations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03520" cy="420624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Spec — BEFORE Webhook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4754880" cy="3383280"/>
          </a:xfrm>
          <a:prstGeom prst="rect">
            <a:avLst/>
          </a:prstGeom>
          <a:solidFill>
            <a:srgbClr val="0D0826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system: ververica-platform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component: taskmanager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flink-taskmanager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flink:1.19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env: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 []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320040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463040"/>
            <a:ext cx="5303520" cy="420624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Spec — AFTER Webhook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75120" y="2011680"/>
            <a:ext cx="4754880" cy="3383280"/>
          </a:xfrm>
          <a:prstGeom prst="rect">
            <a:avLst/>
          </a:prstGeom>
          <a:solidFill>
            <a:srgbClr val="061A1A"/>
          </a:solidFill>
          <a:ln w="6350">
            <a:solidFill>
              <a:srgbClr val="05B8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210312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vvc-byoc-pod-injector: "true"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flink-taskmanager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KAFKA_TRUSTSTORE_PASSWORD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&lt;- kafka-credentials/truststore_password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KAFKA_KEYSTORE_PASSWORD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&lt;- kafka-credentials/keystore_password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kafka-certs -&gt; /opt/certs (RO)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kafka-certs (secret: kafka-tls-stores)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webhook never sees actual password values. It only tells K8s: "fill this env var from that Secret." K8s kubelet resolves the reference at pod startup.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1A6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Config-Driven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injection behavior is defined in two YAML files — no code changes, no image rebuilds, no redeployment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injection-config.yaml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WHAT gets injected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240280"/>
            <a:ext cx="4937760" cy="1371600"/>
          </a:xfrm>
          <a:prstGeom prst="rect">
            <a:avLst/>
          </a:prstGeom>
          <a:solidFill>
            <a:srgbClr val="0D0826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2860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targeting: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 { system: ververica-platform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envVars: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KAFKA_TRUSTSTORE_PASSWORD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secret: kafka-credentials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key: truststore_password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kafka-certs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secret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source: kafka-tls-stores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mountPath: /opt/certs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00800" y="1463040"/>
            <a:ext cx="5303520" cy="22860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secrets.yaml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3232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WHERE credentials come from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675120" y="2240280"/>
            <a:ext cx="4754880" cy="1371600"/>
          </a:xfrm>
          <a:prstGeom prst="rect">
            <a:avLst/>
          </a:prstGeom>
          <a:solidFill>
            <a:srgbClr val="0D0826"/>
          </a:solidFill>
          <a:ln/>
        </p:spPr>
      </p:sp>
      <p:sp>
        <p:nvSpPr>
          <p:cNvPr id="15" name="Text 11"/>
          <p:cNvSpPr/>
          <p:nvPr/>
        </p:nvSpPr>
        <p:spPr>
          <a:xfrm>
            <a:off x="6858000" y="22860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kafka-credentials: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literals: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truststore_password: "changeit"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keystore_password: "changeit"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kafka-tls-stores: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key: kafka-truststore.jks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path: ./kafka-truststore.jks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57200" y="4023360"/>
            <a:ext cx="11247120" cy="20116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3152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Two Files Connect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31520" y="4617720"/>
            <a:ext cx="2560320" cy="1188720"/>
          </a:xfrm>
          <a:prstGeom prst="rect">
            <a:avLst/>
          </a:prstGeom>
          <a:solidFill>
            <a:srgbClr val="0D0826"/>
          </a:solidFill>
          <a:ln w="12700">
            <a:solidFill>
              <a:srgbClr val="FFBA4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1520" y="4663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secrets.yaml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22960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 K8s Secret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kafka-credentials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key truststore_password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"changeit"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931920" y="4617720"/>
            <a:ext cx="2926080" cy="1188720"/>
          </a:xfrm>
          <a:prstGeom prst="rect">
            <a:avLst/>
          </a:prstGeom>
          <a:solidFill>
            <a:srgbClr val="0D0826"/>
          </a:solidFill>
          <a:ln w="12700">
            <a:solidFill>
              <a:srgbClr val="05B89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31920" y="4663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injection-config.yaml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023360" y="4937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Tells webhook: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"Patch env var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KAFKA_TRUSTSTORE_PASSWORD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kafka-credentials"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7498080" y="4617720"/>
            <a:ext cx="2011680" cy="1188720"/>
          </a:xfrm>
          <a:prstGeom prst="rect">
            <a:avLst/>
          </a:prstGeom>
          <a:solidFill>
            <a:srgbClr val="0D0826"/>
          </a:solidFill>
          <a:ln w="12700">
            <a:solidFill>
              <a:srgbClr val="4E20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49808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2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589520" y="4937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Patches pod: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env[].valueFrom.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secretKeyRef.name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kafka-credentials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0149840" y="4617720"/>
            <a:ext cx="1371600" cy="1188720"/>
          </a:xfrm>
          <a:prstGeom prst="rect">
            <a:avLst/>
          </a:prstGeom>
          <a:solidFill>
            <a:srgbClr val="0D0826"/>
          </a:solidFill>
          <a:ln w="12700">
            <a:solidFill>
              <a:srgbClr val="05B89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14984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Flink Pod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0241280" y="49377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var =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"changeit"</a:t>
            </a:r>
            <a:endParaRPr lang="en-US" sz="8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983480"/>
            <a:ext cx="228600" cy="228600"/>
          </a:xfrm>
          <a:prstGeom prst="rect">
            <a:avLst/>
          </a:prstGeom>
        </p:spPr>
      </p:pic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983480"/>
            <a:ext cx="228600" cy="228600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4983480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1A6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Multi-Namespace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webhook, unlimited workspaces — each with independent credentials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0" y="1463040"/>
            <a:ext cx="3931920" cy="13716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9768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vvc-byoc-pod-injector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97680" y="2377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kube-system  (2 replicas)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3291840"/>
            <a:ext cx="3291840" cy="21945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3291840"/>
            <a:ext cx="3291840" cy="320040"/>
          </a:xfrm>
          <a:prstGeom prst="rect">
            <a:avLst/>
          </a:prstGeom>
          <a:solidFill>
            <a:srgbClr val="05B89C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703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yhw580nz7sj6nrad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Label: vvc-byoc-pod-injector=enabled</a:t>
            </a:r>
            <a:endParaRPr lang="en-US" sz="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976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SSL certs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(Streamzee)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80760" y="2834640"/>
            <a:ext cx="0" cy="457200"/>
          </a:xfrm>
          <a:prstGeom prst="line">
            <a:avLst/>
          </a:prstGeom>
          <a:noFill/>
          <a:ln w="12700">
            <a:solidFill>
              <a:srgbClr val="2A1A6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14800" y="3291840"/>
            <a:ext cx="3291840" cy="21945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0" y="3291840"/>
            <a:ext cx="3291840" cy="320040"/>
          </a:xfrm>
          <a:prstGeom prst="rect">
            <a:avLst/>
          </a:prstGeom>
          <a:solidFill>
            <a:srgbClr val="05B89C"/>
          </a:solidFill>
          <a:ln/>
        </p:spPr>
      </p:sp>
      <p:sp>
        <p:nvSpPr>
          <p:cNvPr id="18" name="Text 14"/>
          <p:cNvSpPr/>
          <p:nvPr/>
        </p:nvSpPr>
        <p:spPr>
          <a:xfrm>
            <a:off x="429768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297680" y="3703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mr2fahapmw99zcpx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29768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Label: vvc-byoc-pod-injector=enabled</a:t>
            </a:r>
            <a:endParaRPr lang="en-US" sz="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29768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6344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SASL + SSL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(Confluent)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080760" y="2834640"/>
            <a:ext cx="0" cy="457200"/>
          </a:xfrm>
          <a:prstGeom prst="line">
            <a:avLst/>
          </a:prstGeom>
          <a:noFill/>
          <a:ln w="12700">
            <a:solidFill>
              <a:srgbClr val="2A1A6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72400" y="3291840"/>
            <a:ext cx="3291840" cy="21945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772400" y="3291840"/>
            <a:ext cx="3291840" cy="320040"/>
          </a:xfrm>
          <a:prstGeom prst="rect">
            <a:avLst/>
          </a:prstGeom>
          <a:solidFill>
            <a:srgbClr val="05B89C"/>
          </a:solidFill>
          <a:ln/>
        </p:spPr>
      </p:sp>
      <p:sp>
        <p:nvSpPr>
          <p:cNvPr id="26" name="Text 21"/>
          <p:cNvSpPr/>
          <p:nvPr/>
        </p:nvSpPr>
        <p:spPr>
          <a:xfrm>
            <a:off x="795528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3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955280" y="3703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abc123def456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795528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Label: vvc-byoc-pod-injector=enabled</a:t>
            </a:r>
            <a:endParaRPr lang="en-US" sz="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429768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32104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creds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(Aiven)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080760" y="2834640"/>
            <a:ext cx="0" cy="457200"/>
          </a:xfrm>
          <a:prstGeom prst="line">
            <a:avLst/>
          </a:prstGeom>
          <a:noFill/>
          <a:ln w="12700">
            <a:solidFill>
              <a:srgbClr val="2A1A6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640080" y="5715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463040" y="5715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setup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3108960" y="5715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3566160" y="5715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workspace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5120640" y="5715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6035040" y="5715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workspace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7772400" y="5715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8229600" y="5715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managed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9692640" y="5715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10424160" y="5715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1A6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Universal Injection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secret, file, or configuration — injected into any Flink pod, on any cloud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474720" cy="20116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SSL / SASL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Truststore, keystore, passwords,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SASL credentials. Supports JKS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PEM formats.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474720" cy="20116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916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Credentials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0" y="22402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MySQL, Oracle.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URLs, usernames, passwords,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certificates.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138160" y="1463040"/>
            <a:ext cx="3474720" cy="20116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6916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6112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2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&amp; Tokens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412480" y="22402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keys, OAuth tokens,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service-to-service auth secrets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enrichment lookups.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840480"/>
            <a:ext cx="3474720" cy="20116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690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Flink Config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31520" y="4617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flink-conf.yaml overrides,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log4j.properties, job-spec files.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Mounted from ConfigMaps.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297680" y="3840480"/>
            <a:ext cx="3474720" cy="20116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0690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2064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Service Creds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72000" y="4617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access keys, Azure Blob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strings, GCS 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JSON files.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138160" y="3840480"/>
            <a:ext cx="3474720" cy="20116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406908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9611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2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Containers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412480" y="4617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processing, secret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fetching from Vault, file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 before Flink starts.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1A6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Injection Types &amp; Patch Operations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injection type is a JSON Patch operation on the pod spec — fully configurable via YAML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4688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Sources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371600" cy="228600"/>
          </a:xfrm>
          <a:prstGeom prst="rect">
            <a:avLst/>
          </a:prstGeom>
          <a:solidFill>
            <a:srgbClr val="05B89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933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Secret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19933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files (JKS, PEM, P12), config files, credentials.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Mounted as read-only files at a specified path.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371600" cy="228600"/>
          </a:xfrm>
          <a:prstGeom prst="rect">
            <a:avLst/>
          </a:prstGeom>
          <a:solidFill>
            <a:srgbClr val="FFBA4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249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ConfigMap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27249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Non-sensitive config: flink-conf.yaml, log4j.properties,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specs, SQL scripts. Editable without redeployment.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1371600" cy="228600"/>
          </a:xfrm>
          <a:prstGeom prst="rect">
            <a:avLst/>
          </a:prstGeom>
          <a:solidFill>
            <a:srgbClr val="4E20E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564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2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EmptyDir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4564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Scratch space for initContainers. Process certs, download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files, then share with the main Flink container.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0" y="1463040"/>
            <a:ext cx="5303520" cy="246888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Patch Operations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7804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/spec/containers/N/env/-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69264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 env vars from Secret keys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75120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7804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/spec/volumes/-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69264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volume (Secret, ConfigMap, EmptyDir)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7512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7804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/spec/containers/N/volumeMounts/-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9264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Mounts volume at specified path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75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7804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/spec/initContainers/-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6926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init container before Flink starts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75120" y="3474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7804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/metadata/annotations/...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9264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pod as injected (idempotency)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5486400" cy="192024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389120"/>
            <a:ext cx="320040" cy="32004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4300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Example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31520" y="4754880"/>
            <a:ext cx="4937760" cy="1188720"/>
          </a:xfrm>
          <a:prstGeom prst="rect">
            <a:avLst/>
          </a:prstGeom>
          <a:solidFill>
            <a:srgbClr val="0D0826"/>
          </a:solidFill>
          <a:ln/>
        </p:spPr>
      </p:sp>
      <p:sp>
        <p:nvSpPr>
          <p:cNvPr id="36" name="Text 33"/>
          <p:cNvSpPr/>
          <p:nvPr/>
        </p:nvSpPr>
        <p:spPr>
          <a:xfrm>
            <a:off x="914400" y="4800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injection-config.yaml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flink-conf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configmap           # ← not "secret"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source: flink-overrides   # ← ConfigMap 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mountPath: /opt/flink/conf-custom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readOnly: true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400800" y="4206240"/>
            <a:ext cx="5303520" cy="192024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389120"/>
            <a:ext cx="320040" cy="32004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708660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InitContainer Example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6675120" y="4754880"/>
            <a:ext cx="4754880" cy="1188720"/>
          </a:xfrm>
          <a:prstGeom prst="rect">
            <a:avLst/>
          </a:prstGeom>
          <a:solidFill>
            <a:srgbClr val="0D0826"/>
          </a:solidFill>
          <a:ln/>
        </p:spPr>
      </p:sp>
      <p:sp>
        <p:nvSpPr>
          <p:cNvPr id="41" name="Text 37"/>
          <p:cNvSpPr/>
          <p:nvPr/>
        </p:nvSpPr>
        <p:spPr>
          <a:xfrm>
            <a:off x="6858000" y="48006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injection-config.yaml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initContainers: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cert-processor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eclipse-temurin:11-jdk-alpine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["/bin/sh", "-c"]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 ["keytool -importkeystore ..."]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mounts: [kafka-certs]     # ← reuse volume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STORE_PASS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secret: kafka-credentials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key: truststore_password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1A6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Authentication Compatibility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Kafka auth method works with Flink SQL vs JAR deployments on VVC BYOC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solidFill>
            <a:srgbClr val="1A0D5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80360" y="1508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Flink SQL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52360" y="1508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 Deployment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1247120" cy="6858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47672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(mTLS)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 certs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80360" y="1947672"/>
            <a:ext cx="4389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alone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paths only — no passwords needed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52360" y="1947672"/>
            <a:ext cx="4389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alone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paths + env vars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1247120" cy="685800"/>
          </a:xfrm>
          <a:prstGeom prst="rect">
            <a:avLst/>
          </a:prstGeom>
          <a:solidFill>
            <a:srgbClr val="150D40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33472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(mTLS)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JKS keystores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2633472"/>
            <a:ext cx="4389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+ initContainer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JKS → PEM at pod startup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52360" y="2633472"/>
            <a:ext cx="4389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alone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JKS paths + password env vars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11247120" cy="6858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19272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SASL/PLAIN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80360" y="3319272"/>
            <a:ext cx="4389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(certs) + VVC Secret Values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(password in Flink config)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52360" y="3319272"/>
            <a:ext cx="4389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alone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via System.getenv()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11247120" cy="685800"/>
          </a:xfrm>
          <a:prstGeom prst="rect">
            <a:avLst/>
          </a:prstGeom>
          <a:solidFill>
            <a:srgbClr val="150D40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05072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SASL/PLAIN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SSL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80360" y="4005072"/>
            <a:ext cx="4389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(certs + initContainer)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VVC Secret Values (SASL password)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52360" y="4005072"/>
            <a:ext cx="4389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alone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Certs + passwords via env vars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5303520" cy="164592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 Deployment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code calls System.getenv() at runtime inside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running pod. The webhook injects env vars,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 resolves them. Passwords never leave the pod.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4389120"/>
            <a:ext cx="5303520" cy="164592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7512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Flink SQL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clause values are literal strings. The Kafka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does NOT resolve ${...} env vars.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paths work. Passwords need VVC Secret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JKS→PEM conversion via initContainer.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1A6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Flink SQL Examples — Streamzee Kafka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auth methods using prod-noncde-kafka.razorpay.com:9090 as the bootstrap server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486400" cy="21945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solidFill>
            <a:srgbClr val="05B89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SSL (mTLS, PEM) — Webhook alone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120640" cy="1097280"/>
          </a:xfrm>
          <a:prstGeom prst="rect">
            <a:avLst/>
          </a:prstGeom>
          <a:solidFill>
            <a:srgbClr val="0D082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'security.protocol' = 'SSL',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'ssl.truststore.type' = 'PEM',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'ssl.truststore.location' = '/opt/certs/ca.pem',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'ssl.keystore.type' = 'PEM',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'ssl.keystore.location' = '/opt/certs/service.cert',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'ssl.key.location' = '/opt/certs/service.key'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passwords. Webhook mounts PEM files.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5303520" cy="21945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solidFill>
            <a:srgbClr val="FFBA4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325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SSL (mTLS, JKS) — Webhook + initContainer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691640"/>
            <a:ext cx="4937760" cy="1097280"/>
          </a:xfrm>
          <a:prstGeom prst="rect">
            <a:avLst/>
          </a:prstGeom>
          <a:solidFill>
            <a:srgbClr val="0D0826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17373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'security.protocol' = 'SSL',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'ssl.truststore.type' = 'PEM',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'ssl.truststore.location' = '/work/ca.pem',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'ssl.keystore.type' = 'PEM',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'ssl.keystore.location' = '/work/client-cert.pem',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'ssl.key.location' = '/work/client-key.pem'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InitContainer converts JKS→PEM. SQL reads /work/ paths.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486400" cy="22860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solidFill>
            <a:srgbClr val="4E20E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2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SASL/PLAIN — Webhook + VVC Secret Values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5120640" cy="1188720"/>
          </a:xfrm>
          <a:prstGeom prst="rect">
            <a:avLst/>
          </a:prstGeom>
          <a:solidFill>
            <a:srgbClr val="0D082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14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'security.protocol' = 'SASL_PLAINTEXT',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'sasl.mechanism' = 'PLAIN',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'sasl.jaas.config' 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'org.apache.kafka...PlainLoginModule required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username="${secret_values.kafka_user}"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password="${secret_values.kafka_pass}";'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" y="5303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E2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injected via VVC Secret Values, not webhook.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3703320"/>
            <a:ext cx="5303520" cy="22860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3703320"/>
            <a:ext cx="5303520" cy="274320"/>
          </a:xfrm>
          <a:prstGeom prst="rect">
            <a:avLst/>
          </a:prstGeom>
          <a:solidFill>
            <a:srgbClr val="4E20E8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2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SASL/PLAIN + SSL — Webhook + initContainer + VVC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4069080"/>
            <a:ext cx="4937760" cy="1188720"/>
          </a:xfrm>
          <a:prstGeom prst="rect">
            <a:avLst/>
          </a:prstGeom>
          <a:solidFill>
            <a:srgbClr val="0D0826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1148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'security.protocol' = 'SASL_SSL',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'sasl.mechanism' = 'PLAIN',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'sasl.jaas.config' 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'...PlainLoginModule required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username="${secret_values.kafka_user}"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password="${secret_values.kafka_pass}";',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'ssl.truststore.type' = 'PEM',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'ssl.truststore.location' = '/work/ca.pem'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583680" y="53035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E2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Certs via webhook+initContainer. Password via VVC.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1A6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VVC BYOC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Pod Injector fits in the Ververica Cloud BYOC deployment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200400" cy="3200400"/>
          </a:xfrm>
          <a:prstGeom prst="rect">
            <a:avLst/>
          </a:prstGeom>
          <a:solidFill>
            <a:srgbClr val="0D0826"/>
          </a:solidFill>
          <a:ln w="19050">
            <a:solidFill>
              <a:srgbClr val="4E2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2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Cloud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2651760" cy="3657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VVC Console (UI)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2651760" cy="3657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Manager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2651760" cy="3657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Lifecycle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2651760" cy="36576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Config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834640"/>
            <a:ext cx="320040" cy="3200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297680" y="1463040"/>
            <a:ext cx="7406640" cy="4663440"/>
          </a:xfrm>
          <a:prstGeom prst="rect">
            <a:avLst/>
          </a:prstGeom>
          <a:solidFill>
            <a:srgbClr val="0A0A2A"/>
          </a:solidFill>
          <a:ln w="19050">
            <a:solidFill>
              <a:srgbClr val="05B89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7680" y="14630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Kubernetes Cluster (EKS / AKS)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97680" y="173736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BYOC Data Plane — customer-managed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0" y="2103120"/>
            <a:ext cx="3200400" cy="2103120"/>
          </a:xfrm>
          <a:prstGeom prst="rect">
            <a:avLst/>
          </a:prstGeom>
          <a:solidFill>
            <a:srgbClr val="1A1050"/>
          </a:solidFill>
          <a:ln w="12700">
            <a:solidFill>
              <a:srgbClr val="2A1A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kube-system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846320" y="2468880"/>
            <a:ext cx="2651760" cy="640080"/>
          </a:xfrm>
          <a:prstGeom prst="rect">
            <a:avLst/>
          </a:prstGeom>
          <a:solidFill>
            <a:srgbClr val="0A2A2A"/>
          </a:solidFill>
          <a:ln w="19050">
            <a:solidFill>
              <a:srgbClr val="05B89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60320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4924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vvc-byoc-pod-injector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349240" y="27889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replicas + ConfigMap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4846320" y="3246120"/>
            <a:ext cx="2651760" cy="32004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3776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CoreDNS, kube-proxy, EBS CSI, ...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4846320" y="3611880"/>
            <a:ext cx="2651760" cy="32004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93776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MutatingWebhookConfiguration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8229600" y="2103120"/>
            <a:ext cx="3200400" cy="1188720"/>
          </a:xfrm>
          <a:prstGeom prst="rect">
            <a:avLst/>
          </a:prstGeom>
          <a:solidFill>
            <a:srgbClr val="1A1050"/>
          </a:solidFill>
          <a:ln w="12700">
            <a:solidFill>
              <a:srgbClr val="4E20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2296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2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ververica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8412480" y="2423160"/>
            <a:ext cx="2834640" cy="228600"/>
          </a:xfrm>
          <a:prstGeom prst="rect">
            <a:avLst/>
          </a:prstGeom>
          <a:solidFill>
            <a:srgbClr val="150D40"/>
          </a:solidFill>
          <a:ln/>
        </p:spPr>
      </p:sp>
      <p:sp>
        <p:nvSpPr>
          <p:cNvPr id="32" name="Text 28"/>
          <p:cNvSpPr/>
          <p:nvPr/>
        </p:nvSpPr>
        <p:spPr>
          <a:xfrm>
            <a:off x="8503920" y="2423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Pyxis Controller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8412480" y="2697480"/>
            <a:ext cx="2834640" cy="228600"/>
          </a:xfrm>
          <a:prstGeom prst="rect">
            <a:avLst/>
          </a:prstGeom>
          <a:solidFill>
            <a:srgbClr val="150D40"/>
          </a:solidFill>
          <a:ln/>
        </p:spPr>
      </p:sp>
      <p:sp>
        <p:nvSpPr>
          <p:cNvPr id="34" name="Text 30"/>
          <p:cNvSpPr/>
          <p:nvPr/>
        </p:nvSpPr>
        <p:spPr>
          <a:xfrm>
            <a:off x="8503920" y="2697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Pyxis Webhook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8412480" y="2971800"/>
            <a:ext cx="2834640" cy="228600"/>
          </a:xfrm>
          <a:prstGeom prst="rect">
            <a:avLst/>
          </a:prstGeom>
          <a:solidFill>
            <a:srgbClr val="150D40"/>
          </a:solidFill>
          <a:ln/>
        </p:spPr>
      </p:sp>
      <p:sp>
        <p:nvSpPr>
          <p:cNvPr id="36" name="Text 32"/>
          <p:cNvSpPr/>
          <p:nvPr/>
        </p:nvSpPr>
        <p:spPr>
          <a:xfrm>
            <a:off x="8503920" y="2971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Pyxis Manager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4572000" y="4389120"/>
            <a:ext cx="6858000" cy="1554480"/>
          </a:xfrm>
          <a:prstGeom prst="rect">
            <a:avLst/>
          </a:prstGeom>
          <a:solidFill>
            <a:srgbClr val="1A1050"/>
          </a:solidFill>
          <a:ln w="12700">
            <a:solidFill>
              <a:srgbClr val="FFBA4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5720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yhw580nz7sj6nrad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822960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label: vvc-byoc-pod-injector=enabled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4846320" y="4754880"/>
            <a:ext cx="1737360" cy="1005840"/>
          </a:xfrm>
          <a:prstGeom prst="rect">
            <a:avLst/>
          </a:prstGeom>
          <a:solidFill>
            <a:srgbClr val="0A2A2A"/>
          </a:solidFill>
          <a:ln w="6350">
            <a:solidFill>
              <a:srgbClr val="FFBA4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93776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JobManager</a:t>
            </a:r>
            <a:endParaRPr lang="en-US" sz="800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5074920"/>
            <a:ext cx="182880" cy="18288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166360" y="50566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</a:t>
            </a:r>
            <a:endParaRPr lang="en-US" sz="7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5303520"/>
            <a:ext cx="182880" cy="18288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166360" y="5285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 files</a:t>
            </a:r>
            <a:endParaRPr lang="en-US" sz="7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5074920"/>
            <a:ext cx="182880" cy="18288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852160" y="52852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</a:t>
            </a:r>
            <a:endParaRPr lang="en-US" sz="700" dirty="0"/>
          </a:p>
        </p:txBody>
      </p:sp>
      <p:sp>
        <p:nvSpPr>
          <p:cNvPr id="48" name="Shape 41"/>
          <p:cNvSpPr/>
          <p:nvPr/>
        </p:nvSpPr>
        <p:spPr>
          <a:xfrm>
            <a:off x="6858000" y="4754880"/>
            <a:ext cx="1737360" cy="1005840"/>
          </a:xfrm>
          <a:prstGeom prst="rect">
            <a:avLst/>
          </a:prstGeom>
          <a:solidFill>
            <a:srgbClr val="0A2A2A"/>
          </a:solidFill>
          <a:ln w="6350">
            <a:solidFill>
              <a:srgbClr val="FFBA40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94944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TaskManager-1</a:t>
            </a:r>
            <a:endParaRPr lang="en-US" sz="800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5074920"/>
            <a:ext cx="182880" cy="18288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7178040" y="50566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</a:t>
            </a:r>
            <a:endParaRPr lang="en-US" sz="70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5303520"/>
            <a:ext cx="182880" cy="182880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7178040" y="5285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 files</a:t>
            </a:r>
            <a:endParaRPr lang="en-US" sz="700" dirty="0"/>
          </a:p>
        </p:txBody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5074920"/>
            <a:ext cx="182880" cy="182880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7863840" y="52852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</a:t>
            </a:r>
            <a:endParaRPr lang="en-US" sz="700" dirty="0"/>
          </a:p>
        </p:txBody>
      </p:sp>
      <p:sp>
        <p:nvSpPr>
          <p:cNvPr id="56" name="Shape 46"/>
          <p:cNvSpPr/>
          <p:nvPr/>
        </p:nvSpPr>
        <p:spPr>
          <a:xfrm>
            <a:off x="8869680" y="4754880"/>
            <a:ext cx="1737360" cy="1005840"/>
          </a:xfrm>
          <a:prstGeom prst="rect">
            <a:avLst/>
          </a:prstGeom>
          <a:solidFill>
            <a:srgbClr val="0A2A2A"/>
          </a:solidFill>
          <a:ln w="6350">
            <a:solidFill>
              <a:srgbClr val="FFBA40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896112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TaskManager-2</a:t>
            </a:r>
            <a:endParaRPr lang="en-US" sz="80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0" y="5074920"/>
            <a:ext cx="182880" cy="182880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9189720" y="50566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</a:t>
            </a:r>
            <a:endParaRPr lang="en-US" sz="700" dirty="0"/>
          </a:p>
        </p:txBody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1120" y="5303520"/>
            <a:ext cx="182880" cy="182880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9189720" y="5285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 files</a:t>
            </a:r>
            <a:endParaRPr lang="en-US" sz="700" dirty="0"/>
          </a:p>
        </p:txBody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8400" y="5074920"/>
            <a:ext cx="182880" cy="182880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9875520" y="52852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</a:t>
            </a:r>
            <a:endParaRPr lang="en-US" sz="700" dirty="0"/>
          </a:p>
        </p:txBody>
      </p:sp>
      <p:sp>
        <p:nvSpPr>
          <p:cNvPr id="64" name="Shape 51"/>
          <p:cNvSpPr/>
          <p:nvPr/>
        </p:nvSpPr>
        <p:spPr>
          <a:xfrm>
            <a:off x="6172200" y="3977640"/>
            <a:ext cx="0" cy="411480"/>
          </a:xfrm>
          <a:prstGeom prst="line">
            <a:avLst/>
          </a:prstGeom>
          <a:noFill/>
          <a:ln w="19050">
            <a:solidFill>
              <a:srgbClr val="05B89C"/>
            </a:solidFill>
            <a:prstDash val="solid"/>
          </a:ln>
        </p:spPr>
      </p:sp>
      <p:sp>
        <p:nvSpPr>
          <p:cNvPr id="65" name="Text 52"/>
          <p:cNvSpPr/>
          <p:nvPr/>
        </p:nvSpPr>
        <p:spPr>
          <a:xfrm>
            <a:off x="5303520" y="40416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patches pods</a:t>
            </a:r>
            <a:endParaRPr lang="en-US" sz="700" dirty="0"/>
          </a:p>
        </p:txBody>
      </p:sp>
      <p:sp>
        <p:nvSpPr>
          <p:cNvPr id="66" name="Shape 53"/>
          <p:cNvSpPr/>
          <p:nvPr/>
        </p:nvSpPr>
        <p:spPr>
          <a:xfrm>
            <a:off x="8229600" y="3474720"/>
            <a:ext cx="3200400" cy="640080"/>
          </a:xfrm>
          <a:prstGeom prst="rect">
            <a:avLst/>
          </a:prstGeom>
          <a:solidFill>
            <a:srgbClr val="1A1050"/>
          </a:solidFill>
          <a:ln w="6350">
            <a:solidFill>
              <a:srgbClr val="FFBA40"/>
            </a:solidFill>
            <a:prstDash val="solid"/>
          </a:ln>
        </p:spPr>
      </p:sp>
      <p:sp>
        <p:nvSpPr>
          <p:cNvPr id="67" name="Text 54"/>
          <p:cNvSpPr/>
          <p:nvPr/>
        </p:nvSpPr>
        <p:spPr>
          <a:xfrm>
            <a:off x="822960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Secrets</a:t>
            </a:r>
            <a:endParaRPr lang="en-US" sz="800" dirty="0"/>
          </a:p>
        </p:txBody>
      </p:sp>
      <p:sp>
        <p:nvSpPr>
          <p:cNvPr id="68" name="Text 55"/>
          <p:cNvSpPr/>
          <p:nvPr/>
        </p:nvSpPr>
        <p:spPr>
          <a:xfrm>
            <a:off x="832104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kafka-credentials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8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kafka-tls-stores</a:t>
            </a:r>
            <a:endParaRPr lang="en-US" sz="750" dirty="0"/>
          </a:p>
        </p:txBody>
      </p:sp>
      <p:sp>
        <p:nvSpPr>
          <p:cNvPr id="69" name="Text 5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  <p:sp>
        <p:nvSpPr>
          <p:cNvPr id="70" name="Text 57"/>
          <p:cNvSpPr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800" dirty="0"/>
          </a:p>
        </p:txBody>
      </p:sp>
      <p:sp>
        <p:nvSpPr>
          <p:cNvPr id="71" name="Shape 58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1A6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receiving the delivery package to a running Flink job with injected secrets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13716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4E20E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0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Package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2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SE delivers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gets customer-delivery.zip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containing 6 files: Docker image tarball,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scripts, config templates, README.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5486400" cy="13716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600200"/>
            <a:ext cx="457200" cy="457200"/>
          </a:xfrm>
          <a:prstGeom prst="ellipse">
            <a:avLst/>
          </a:prstGeom>
          <a:solidFill>
            <a:srgbClr val="05B89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0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1554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Image to ECR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18288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runs once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223760" y="20574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push-image.sh — loads Docker image,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ECR repo, pushes. One command.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the image URI.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5486400" cy="13716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FFBA4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0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154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Secrets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4290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edits YAML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80160" y="36576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secrets.yaml — fill in real passwords,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cert files (JKS/PEM) in folder.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injection-config.yaml is pre-filled.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3017520"/>
            <a:ext cx="5486400" cy="13716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3200400"/>
            <a:ext cx="457200" cy="457200"/>
          </a:xfrm>
          <a:prstGeom prst="ellipse">
            <a:avLst/>
          </a:prstGeom>
          <a:solidFill>
            <a:srgbClr val="05B89C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0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23760" y="3154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Webhook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23760" y="34290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runs once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23760" y="36576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vvc-byoc-pod-injector.sh deploy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auto-discovers namespace, creates K8s secrets,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 webhook, verifies injection.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5486400" cy="13716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05B89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0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754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Flink Job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50292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(normal workflow)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280160" y="52578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job through VVC Console as normal.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extra steps. The webhook automatically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intercepts and patches every Flink pod.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0" y="4617720"/>
            <a:ext cx="5486400" cy="137160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0" y="4800600"/>
            <a:ext cx="457200" cy="457200"/>
          </a:xfrm>
          <a:prstGeom prst="ellipse">
            <a:avLst/>
          </a:prstGeom>
          <a:solidFill>
            <a:srgbClr val="05B89C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0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223760" y="4754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Connects Securely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0" y="50292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223760" y="52578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Flink reads env vars and cert files injected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webhook. Connects to Kafka/DB/APIs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proper authentication.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1A6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Deployment: Three Commands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fully injecting secrets in under 5 minutes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548640"/>
          </a:xfrm>
          <a:prstGeom prst="ellipse">
            <a:avLst/>
          </a:prstGeom>
          <a:solidFill>
            <a:srgbClr val="05B89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0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Image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seconds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the pre-built Docker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your ECR. Handles repo creation,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and push automatically.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1554480"/>
            <a:ext cx="6675120" cy="1188720"/>
          </a:xfrm>
          <a:prstGeom prst="rect">
            <a:avLst/>
          </a:prstGeom>
          <a:solidFill>
            <a:srgbClr val="0D0826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16459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./push-image.sh ap-south-1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548640" cy="548640"/>
          </a:xfrm>
          <a:prstGeom prst="ellipse">
            <a:avLst/>
          </a:prstGeom>
          <a:solidFill>
            <a:srgbClr val="05B89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0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Secrets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minute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872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placeholder passwords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actual values. Place your JKS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PEM files in the same folder.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108960"/>
            <a:ext cx="6675120" cy="1188720"/>
          </a:xfrm>
          <a:prstGeom prst="rect">
            <a:avLst/>
          </a:prstGeom>
          <a:solidFill>
            <a:srgbClr val="0D0826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32004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secrets.yaml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800600"/>
            <a:ext cx="548640" cy="548640"/>
          </a:xfrm>
          <a:prstGeom prst="ellipse">
            <a:avLst/>
          </a:prstGeom>
          <a:solidFill>
            <a:srgbClr val="05B89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0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5074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minutes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88720" y="5303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Auto-discovers namespace, deploys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webhook, creates secrets, verifies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injection. All automated.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4663440"/>
            <a:ext cx="6675120" cy="1188720"/>
          </a:xfrm>
          <a:prstGeom prst="rect">
            <a:avLst/>
          </a:prstGeom>
          <a:solidFill>
            <a:srgbClr val="0D0826"/>
          </a:solidFill>
          <a:ln w="6350">
            <a:solidFill>
              <a:srgbClr val="2A1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47548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./vvc-byoc-pod-injector.sh deploy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--webhook-image &lt;URI&gt;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injection-config.yaml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--secrets secrets.yaml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51560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1A6A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5B8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301752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Per Customer?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4937760" cy="347472"/>
          </a:xfrm>
          <a:prstGeom prst="rect">
            <a:avLst/>
          </a:prstGeom>
          <a:solidFill>
            <a:srgbClr val="1A0D5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51760" y="16459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Changes?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0" y="1645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4937760" cy="347472"/>
          </a:xfrm>
          <a:prstGeom prst="rect">
            <a:avLst/>
          </a:prstGeom>
          <a:solidFill>
            <a:srgbClr val="1A105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webhook binary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51760" y="2011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0" y="20116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image for all customers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4937760" cy="347472"/>
          </a:xfrm>
          <a:prstGeom prst="rect">
            <a:avLst/>
          </a:prstGeom>
          <a:solidFill>
            <a:srgbClr val="150D4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image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51760" y="2377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0" y="2377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once, reused everywhere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4937760" cy="347472"/>
          </a:xfrm>
          <a:prstGeom prst="rect">
            <a:avLst/>
          </a:prstGeom>
          <a:solidFill>
            <a:srgbClr val="1A105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script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51760" y="2743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0" y="2743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script for all customers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3108960"/>
            <a:ext cx="4937760" cy="347472"/>
          </a:xfrm>
          <a:prstGeom prst="rect">
            <a:avLst/>
          </a:prstGeom>
          <a:solidFill>
            <a:srgbClr val="150D4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108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injection-config.yaml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51760" y="3108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use case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0" y="3108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env vars, mount paths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3474720"/>
            <a:ext cx="4937760" cy="347472"/>
          </a:xfrm>
          <a:prstGeom prst="rect">
            <a:avLst/>
          </a:prstGeom>
          <a:solidFill>
            <a:srgbClr val="1A105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secrets.yaml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51760" y="3474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customer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0" y="3474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passwords, cert files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0" y="1097280"/>
            <a:ext cx="5303520" cy="301752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7512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B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15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691640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086600" y="1664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secrets in source code, CI/CD, or container images</a:t>
            </a:r>
            <a:endParaRPr lang="en-US" sz="105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011680"/>
            <a:ext cx="201168" cy="201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086600" y="1984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without modifying VVC platform or Flink images</a:t>
            </a:r>
            <a:endParaRPr lang="en-US" sz="105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331720"/>
            <a:ext cx="201168" cy="20116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086600" y="23042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Coexists safely with Ververica's Pyxis webhooks</a:t>
            </a:r>
            <a:endParaRPr lang="en-US" sz="105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651760"/>
            <a:ext cx="201168" cy="20116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086600" y="26243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config-driven — YAML only, no code changes ever</a:t>
            </a:r>
            <a:endParaRPr lang="en-US" sz="105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971800"/>
            <a:ext cx="201168" cy="20116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086600" y="2944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Multi-namespace with independent credentials per workspace</a:t>
            </a:r>
            <a:endParaRPr lang="en-US" sz="105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291840"/>
            <a:ext cx="201168" cy="20116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086600" y="32644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any injection: Kafka, databases, APIs, config files</a:t>
            </a:r>
            <a:endParaRPr lang="en-US" sz="105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3611880"/>
            <a:ext cx="201168" cy="20116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086600" y="3584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and verified on VVC BYOC AWS (EKS) and Azure (AKS)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457200" y="4389120"/>
            <a:ext cx="11247120" cy="1645920"/>
          </a:xfrm>
          <a:prstGeom prst="rect">
            <a:avLst/>
          </a:prstGeom>
          <a:solidFill>
            <a:srgbClr val="1A1050"/>
          </a:solidFill>
          <a:ln w="6350">
            <a:solidFill>
              <a:srgbClr val="2A1A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Text 38"/>
          <p:cNvSpPr/>
          <p:nvPr/>
        </p:nvSpPr>
        <p:spPr>
          <a:xfrm>
            <a:off x="73152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Delivery Package</a:t>
            </a:r>
            <a:endParaRPr lang="en-US" sz="1500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983480"/>
            <a:ext cx="274320" cy="27432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097280" y="4937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image tarball</a:t>
            </a:r>
            <a:endParaRPr lang="en-US" sz="950" dirty="0"/>
          </a:p>
        </p:txBody>
      </p:sp>
      <p:sp>
        <p:nvSpPr>
          <p:cNvPr id="50" name="Text 40"/>
          <p:cNvSpPr/>
          <p:nvPr/>
        </p:nvSpPr>
        <p:spPr>
          <a:xfrm>
            <a:off x="109728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Pre-built, no Go/Docker needed</a:t>
            </a:r>
            <a:endParaRPr lang="en-US" sz="850" dirty="0"/>
          </a:p>
        </p:txBody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1800" y="4983480"/>
            <a:ext cx="274320" cy="27432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3337560" y="4937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push-image.sh</a:t>
            </a:r>
            <a:endParaRPr lang="en-US" sz="950" dirty="0"/>
          </a:p>
        </p:txBody>
      </p:sp>
      <p:sp>
        <p:nvSpPr>
          <p:cNvPr id="53" name="Text 42"/>
          <p:cNvSpPr/>
          <p:nvPr/>
        </p:nvSpPr>
        <p:spPr>
          <a:xfrm>
            <a:off x="333756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Pushes to customer's ECR</a:t>
            </a:r>
            <a:endParaRPr lang="en-US" sz="850" dirty="0"/>
          </a:p>
        </p:txBody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2080" y="4983480"/>
            <a:ext cx="274320" cy="27432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5577840" y="4937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vvc-byoc-pod-injector.sh</a:t>
            </a:r>
            <a:endParaRPr lang="en-US" sz="950" dirty="0"/>
          </a:p>
        </p:txBody>
      </p:sp>
      <p:sp>
        <p:nvSpPr>
          <p:cNvPr id="56" name="Text 44"/>
          <p:cNvSpPr/>
          <p:nvPr/>
        </p:nvSpPr>
        <p:spPr>
          <a:xfrm>
            <a:off x="557784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Deploy, add, remove, status</a:t>
            </a:r>
            <a:endParaRPr lang="en-US" sz="850" dirty="0"/>
          </a:p>
        </p:txBody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2360" y="4983480"/>
            <a:ext cx="274320" cy="274320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7818120" y="4937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injection-config.yaml</a:t>
            </a:r>
            <a:endParaRPr lang="en-US" sz="950" dirty="0"/>
          </a:p>
        </p:txBody>
      </p:sp>
      <p:sp>
        <p:nvSpPr>
          <p:cNvPr id="59" name="Text 46"/>
          <p:cNvSpPr/>
          <p:nvPr/>
        </p:nvSpPr>
        <p:spPr>
          <a:xfrm>
            <a:off x="781812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Pre-filled for their setup</a:t>
            </a:r>
            <a:endParaRPr lang="en-US" sz="850" dirty="0"/>
          </a:p>
        </p:txBody>
      </p:sp>
      <p:pic>
        <p:nvPicPr>
          <p:cNvPr id="6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92640" y="4983480"/>
            <a:ext cx="274320" cy="274320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10058400" y="4937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secrets.yaml</a:t>
            </a:r>
            <a:endParaRPr lang="en-US" sz="950" dirty="0"/>
          </a:p>
        </p:txBody>
      </p:sp>
      <p:sp>
        <p:nvSpPr>
          <p:cNvPr id="62" name="Text 48"/>
          <p:cNvSpPr/>
          <p:nvPr/>
        </p:nvSpPr>
        <p:spPr>
          <a:xfrm>
            <a:off x="1005840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— they fill passwords</a:t>
            </a:r>
            <a:endParaRPr lang="en-US" sz="850" dirty="0"/>
          </a:p>
        </p:txBody>
      </p:sp>
      <p:sp>
        <p:nvSpPr>
          <p:cNvPr id="63" name="Text 4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Ververica Technical Sales Engineering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VVC BYOC Pod Injector — Architecture &amp; Deployment Guide</dc:title>
  <dc:subject>PptxGenJS Presentation</dc:subject>
  <dc:creator>Ververica Technical Sales Engineering</dc:creator>
  <cp:lastModifiedBy>Ververica Technical Sales Engineering</cp:lastModifiedBy>
  <cp:revision>1</cp:revision>
  <dcterms:created xsi:type="dcterms:W3CDTF">2026-03-15T21:42:36Z</dcterms:created>
  <dcterms:modified xsi:type="dcterms:W3CDTF">2026-03-15T21:42:36Z</dcterms:modified>
</cp:coreProperties>
</file>